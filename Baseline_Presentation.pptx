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0" r:id="rId11"/>
    <p:sldId id="261" r:id="rId12"/>
    <p:sldId id="262" r:id="rId10"/>
    <p:sldId id="263" r:id="rId9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6.xml"/><Relationship Id="rId10" Type="http://schemas.openxmlformats.org/officeDocument/2006/relationships/slide" Target="slides/slide5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Dataset: GSM8K (Grade School Math)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Overview:</a:t>
            </a:r>
          </a:p>
          <a:p>
            <a:r>
              <a:t>- 8.5K high-quality, linguistically diverse grade school math word problems.</a:t>
            </a:r>
          </a:p>
          <a:p>
            <a:r>
              <a:t>- Requires multi-step mathematical reasoning to solve.</a:t>
            </a:r>
          </a:p>
          <a:p>
            <a:br/>
            <a:pPr>
              <a:defRPr b="1"/>
            </a:pPr>
            <a:r>
              <a:t>Data Structure:</a:t>
            </a:r>
          </a:p>
          <a:p>
            <a:r>
              <a:t>- Question: The math word problem.</a:t>
            </a:r>
            <a:br/>
            <a:r>
              <a:t>- Answer / Reasoning: Step-by-step logic leading to the final answer.</a:t>
            </a:r>
            <a:br/>
            <a:r>
              <a:t>- Format: The final numeric answer is often denoted at the end (e.g., #### 5).</a:t>
            </a:r>
          </a:p>
          <a:p>
            <a:br/>
            <a:pPr>
              <a:defRPr b="1"/>
            </a:pPr>
            <a:r>
              <a:t>Our Usage:</a:t>
            </a:r>
          </a:p>
          <a:p>
            <a:r>
              <a:t>- Utilized the 'train' split to fine-tune our Language Model.</a:t>
            </a:r>
            <a:br/>
            <a:r>
              <a:t>- Extracted exact numeric answers to use as an automated grading mechanism.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Approach: Reward-Weighted Flat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What We Tried:</a:t>
            </a:r>
          </a:p>
          <a:p>
            <a:r>
              <a:t>- Developed a 'Flat Baseline' (standard causal LM, no routing).</a:t>
            </a:r>
            <a:br/>
            <a:r>
              <a:t>- Implemented a custom RewardWeightedTrainer for Supervised Fine-Tuning.</a:t>
            </a:r>
          </a:p>
          <a:p>
            <a:br/>
            <a:pPr>
              <a:defRPr b="1"/>
            </a:pPr>
            <a:r>
              <a:t>How It Works:</a:t>
            </a:r>
          </a:p>
          <a:p>
            <a:r>
              <a:t>1. Formatting: Concatenated inputs into 'Question: [Q] \nReasoning: [A]'</a:t>
            </a:r>
            <a:br/>
            <a:r>
              <a:t>2. Reward Filter: Binary score (1.0 if answer contains numeric format, else 0.0)</a:t>
            </a:r>
            <a:br/>
            <a:r>
              <a:t>3. Loss Weighting: Modified Cross-Entropy (Loss = Sequence_Loss x Reward)</a:t>
            </a:r>
            <a:br/>
            <a:r>
              <a:t>4. Efficiency: Applied LoRA targeting attention matrices (q_proj, v_proj).</a:t>
            </a:r>
          </a:p>
          <a:p>
            <a:br/>
            <a:pPr>
              <a:defRPr b="1"/>
            </a:pPr>
            <a:r>
              <a:t>Key Findings &amp; Adjustments:</a:t>
            </a:r>
          </a:p>
          <a:p>
            <a:r>
              <a:t>- Identified and fixed an inversion bug in the loss calculation to ensure the LLM correctly reinforces successful examples.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00000"/>
                </a:solidFill>
              </a:defRPr>
            </a:pPr>
            <a:r>
              <a:t>Why Direct RL Over SFT?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/>
            </a:pPr>
            <a:r>
              <a:t>Computational Efficiency</a:t>
            </a:r>
          </a:p>
          <a:p>
            <a:pPr lvl="1">
              <a:defRPr sz="2600"/>
            </a:pPr>
            <a:r>
              <a:t>Skip intermediate SFT stage → direct RL optimization</a:t>
            </a:r>
          </a:p>
          <a:p>
            <a:pPr>
              <a:defRPr sz="2600"/>
            </a:pPr>
          </a:p>
          <a:p>
            <a:pPr>
              <a:defRPr sz="3200"/>
            </a:pPr>
            <a:r>
              <a:t>Alignment Benefits</a:t>
            </a:r>
          </a:p>
          <a:p>
            <a:pPr lvl="1">
              <a:defRPr sz="2600"/>
            </a:pPr>
            <a:r>
              <a:t>Avoid biases from human-curated SFT data</a:t>
            </a:r>
          </a:p>
          <a:p>
            <a:pPr lvl="1">
              <a:defRPr sz="2600"/>
            </a:pPr>
            <a:r>
              <a:t>Learn directly from reward signal</a:t>
            </a:r>
          </a:p>
          <a:p>
            <a:pPr>
              <a:defRPr sz="2600"/>
            </a:pPr>
          </a:p>
          <a:p>
            <a:pPr>
              <a:defRPr sz="1800" i="1">
                <a:solidFill>
                  <a:srgbClr val="00008B"/>
                </a:solidFill>
              </a:defRPr>
            </a:pPr>
            <a:r>
              <a:t>Reference: https://yugeten.github.io/posts/2025/01/ppogrpo/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00000"/>
                </a:solidFill>
              </a:defRPr>
            </a:pPr>
            <a:r>
              <a:t>GRPO: Eliminating the Critic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Traditional RL (PPO): Requires Separate Critic</a:t>
            </a:r>
          </a:p>
          <a:p>
            <a:pPr lvl="1">
              <a:defRPr sz="2200"/>
            </a:pPr>
            <a:r>
              <a:t>Critic estimates per-step value function → computational overhead</a:t>
            </a:r>
          </a:p>
          <a:p>
            <a:pPr>
              <a:defRPr sz="2200"/>
            </a:pPr>
          </a:p>
          <a:p>
            <a:pPr>
              <a:defRPr sz="2800"/>
            </a:pPr>
            <a:r>
              <a:t>GRPO Innovation: Group-Relative Policy Optimization</a:t>
            </a:r>
          </a:p>
          <a:p>
            <a:pPr lvl="1">
              <a:defRPr sz="2200"/>
            </a:pPr>
            <a:r>
              <a:t>Advantage = (R(rᵢ) - mean(R)) / std(R)</a:t>
            </a:r>
          </a:p>
          <a:p>
            <a:pPr lvl="1">
              <a:defRPr sz="2200"/>
            </a:pPr>
            <a:r>
              <a:t>Normalized within response group → No critic needed!</a:t>
            </a:r>
          </a:p>
          <a:p>
            <a:pPr>
              <a:defRPr sz="2200"/>
            </a:pPr>
          </a:p>
          <a:p>
            <a:pPr>
              <a:defRPr sz="2800"/>
            </a:pPr>
            <a:r>
              <a:t>Key Benefits</a:t>
            </a:r>
          </a:p>
          <a:p>
            <a:pPr lvl="1">
              <a:defRPr sz="2200"/>
            </a:pPr>
            <a:r>
              <a:t>Simpler architecture, no value network overhead</a:t>
            </a:r>
          </a:p>
          <a:p>
            <a:pPr lvl="1">
              <a:defRPr sz="2200"/>
            </a:pPr>
            <a:r>
              <a:t>Faster training with same or better results</a:t>
            </a:r>
          </a:p>
          <a:p>
            <a:pPr lvl="1">
              <a:defRPr sz="2200"/>
            </a:pPr>
            <a:r>
              <a:t>Mathematical elegance &amp; theoretical soundness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/>
            </a:pPr>
            <a:r>
              <a:t>Why Direct RL Over SFT?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800"/>
            </a:pPr>
            <a:r>
              <a:t>Computational Efficiency</a:t>
            </a:r>
          </a:p>
          <a:p>
            <a:pPr lvl="1">
              <a:defRPr b="0" sz="2800"/>
            </a:pPr>
            <a:r>
              <a:t>Skip intermediate SFT stage → direct RL optimization</a:t>
            </a:r>
          </a:p>
          <a:p>
            <a:pPr>
              <a:defRPr b="0" sz="2800"/>
            </a:pPr>
          </a:p>
          <a:p>
            <a:pPr>
              <a:defRPr b="1" sz="2800"/>
            </a:pPr>
            <a:r>
              <a:t>Alignment Benefits</a:t>
            </a:r>
          </a:p>
          <a:p>
            <a:pPr lvl="1">
              <a:defRPr b="0" sz="2800"/>
            </a:pPr>
            <a:r>
              <a:t>Avoid biases from human-curated SFT data</a:t>
            </a:r>
          </a:p>
          <a:p>
            <a:pPr lvl="1">
              <a:defRPr b="0" sz="2800"/>
            </a:pPr>
            <a:r>
              <a:t>Learn directly from reward signal</a:t>
            </a:r>
          </a:p>
          <a:p>
            <a:pPr>
              <a:defRPr b="0" sz="2800"/>
            </a:pPr>
          </a:p>
          <a:p>
            <a:pPr>
              <a:defRPr b="0" sz="2800"/>
            </a:pPr>
            <a:r>
              <a:t>Reference: yugeten.github.io/posts/2025/01/ppogrpo/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/>
            </a:pPr>
            <a:r>
              <a:t>GRPO: Eliminating the Critic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600"/>
            </a:pPr>
            <a:r>
              <a:t>Traditional RL (PPO)</a:t>
            </a:r>
          </a:p>
          <a:p>
            <a:pPr lvl="1">
              <a:defRPr b="0" sz="2600"/>
            </a:pPr>
            <a:r>
              <a:t>Requires separate critic network</a:t>
            </a:r>
          </a:p>
          <a:p>
            <a:pPr lvl="1">
              <a:defRPr b="0" sz="2600"/>
            </a:pPr>
            <a:r>
              <a:t>Per-step value estimation → computational overhead</a:t>
            </a:r>
          </a:p>
          <a:p>
            <a:pPr>
              <a:defRPr b="0" sz="2600"/>
            </a:pPr>
          </a:p>
          <a:p>
            <a:pPr>
              <a:defRPr b="1" sz="2600"/>
            </a:pPr>
            <a:r>
              <a:t>GRPO: Group-Relative Policy Optimization</a:t>
            </a:r>
          </a:p>
          <a:p>
            <a:pPr lvl="1">
              <a:defRPr b="0" sz="2600"/>
            </a:pPr>
            <a:r>
              <a:t>Advantage = (R(rᵢ) - mean(R)) / std(R)</a:t>
            </a:r>
          </a:p>
          <a:p>
            <a:pPr lvl="1">
              <a:defRPr b="0" sz="2600"/>
            </a:pPr>
            <a:r>
              <a:t>No critic needed — normalize within group</a:t>
            </a:r>
          </a:p>
          <a:p>
            <a:pPr>
              <a:defRPr b="0" sz="2600"/>
            </a:pPr>
          </a:p>
          <a:p>
            <a:pPr>
              <a:defRPr b="1" sz="2600"/>
            </a:pPr>
            <a:r>
              <a:t>Key Benefits</a:t>
            </a:r>
          </a:p>
          <a:p>
            <a:pPr lvl="1">
              <a:defRPr b="0" sz="2600"/>
            </a:pPr>
            <a:r>
              <a:t>Simpler architecture</a:t>
            </a:r>
          </a:p>
          <a:p>
            <a:pPr lvl="1">
              <a:defRPr b="0" sz="2600"/>
            </a:pPr>
            <a:r>
              <a:t>Faster training</a:t>
            </a:r>
          </a:p>
          <a:p>
            <a:pPr lvl="1">
              <a:defRPr b="0" sz="2600"/>
            </a:pPr>
            <a:r>
              <a:t>Mathematical elegance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Router Reward: Binary Outcome vs. Process-Based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1800"/>
            </a:pPr>
            <a:r>
              <a:t>1. Outcome-Only (Current)</a:t>
            </a:r>
          </a:p>
          <a:p>
            <a:pPr lvl="1">
              <a:defRPr sz="1200"/>
            </a:pPr>
            <a:r>
              <a:t>Reward = 1 if final answer matches ground truth</a:t>
            </a:r>
          </a:p>
          <a:p>
            <a:pPr lvl="1">
              <a:defRPr sz="1200"/>
            </a:pPr>
            <a:r>
              <a:t>Reward = 0 if answer is incorrect</a:t>
            </a:r>
          </a:p>
          <a:p>
            <a:pPr lvl="1">
              <a:defRPr sz="1200"/>
            </a:pPr>
            <a:r>
              <a:t>Ignores planning quality—only cares about result</a:t>
            </a:r>
          </a:p>
          <a:p>
            <a:pPr lvl="1">
              <a:defRPr sz="1200"/>
            </a:pPr>
            <a:r>
              <a:t>Advantage: Simple, easy to implement</a:t>
            </a:r>
          </a:p>
          <a:p>
            <a:pPr lvl="1">
              <a:defRPr sz="1200"/>
            </a:pPr>
            <a:r>
              <a:t>Disadvantage: No feedback on intermediate reasoning</a:t>
            </a:r>
          </a:p>
          <a:p>
            <a:pPr>
              <a:defRPr b="1" sz="1800"/>
            </a:pPr>
            <a:r>
              <a:t>2. Process Reward Models (PRM) [1]</a:t>
            </a:r>
          </a:p>
          <a:p>
            <a:pPr lvl="1">
              <a:defRPr sz="1200"/>
            </a:pPr>
            <a:r>
              <a:t>Score quality of each planning step independently</a:t>
            </a:r>
          </a:p>
          <a:p>
            <a:pPr lvl="1">
              <a:defRPr sz="1200"/>
            </a:pPr>
            <a:r>
              <a:t>Each step evaluated on: clarity, concreteness, logical order</a:t>
            </a:r>
          </a:p>
          <a:p>
            <a:pPr lvl="1">
              <a:defRPr sz="1200"/>
            </a:pPr>
            <a:r>
              <a:t>Separates 'good planning' from 'successful execution'</a:t>
            </a:r>
          </a:p>
          <a:p>
            <a:pPr lvl="1">
              <a:defRPr sz="1200"/>
            </a:pPr>
            <a:r>
              <a:t>Advantage: Detects poor plans early, reduces reward hacking</a:t>
            </a:r>
          </a:p>
          <a:p>
            <a:pPr lvl="1">
              <a:defRPr sz="1200"/>
            </a:pPr>
            <a:r>
              <a:t>Disadvantage: Requires step-level quality metrics</a:t>
            </a:r>
          </a:p>
          <a:p>
            <a:pPr>
              <a:defRPr b="1" sz="1800"/>
            </a:pPr>
            <a:r>
              <a:t>3. Conditional Reward Modeling (CRM) [3]</a:t>
            </a:r>
          </a:p>
          <a:p>
            <a:pPr lvl="1">
              <a:defRPr sz="1200"/>
            </a:pPr>
            <a:r>
              <a:t>Theoretically sound = plan would work if executed perfectly</a:t>
            </a:r>
          </a:p>
          <a:p>
            <a:pPr lvl="1">
              <a:defRPr sz="1200"/>
            </a:pPr>
            <a:r>
              <a:t>Checks: mentions all quantities? Logical order? Decomposition correct?</a:t>
            </a:r>
          </a:p>
          <a:p>
            <a:pPr lvl="1">
              <a:defRPr sz="1200"/>
            </a:pPr>
            <a:r>
              <a:t>Conditions step rewards on preceding steps AND final outcome</a:t>
            </a:r>
          </a:p>
          <a:p>
            <a:pPr lvl="1">
              <a:defRPr sz="1200"/>
            </a:pPr>
            <a:r>
              <a:t>Advantage: Captures inter-step dependencies, reduces reward hacking</a:t>
            </a:r>
          </a:p>
          <a:p>
            <a:pPr lvl="1">
              <a:defRPr sz="1200"/>
            </a:pPr>
            <a:r>
              <a:t>Disadvantage: More complex credit assignment logic</a:t>
            </a:r>
          </a:p>
          <a:p>
            <a:pPr>
              <a:defRPr b="1" sz="1800"/>
            </a:pPr>
            <a:r>
              <a:t>4. Hybrid Approach [1][2]</a:t>
            </a:r>
          </a:p>
          <a:p>
            <a:pPr lvl="1">
              <a:defRPr sz="1200"/>
            </a:pPr>
            <a:r>
              <a:t>Reward = 0.5 × plan_quality + 0.5 × outcome_correctness</a:t>
            </a:r>
          </a:p>
          <a:p>
            <a:pPr lvl="1">
              <a:defRPr sz="1200"/>
            </a:pPr>
            <a:r>
              <a:t>Balances process (structure/clarity) with outcome (correctness)</a:t>
            </a:r>
          </a:p>
          <a:p>
            <a:pPr lvl="1">
              <a:defRPr sz="1200"/>
            </a:pPr>
            <a:r>
              <a:t>Plan quality: step concreteness, logical ordering, clarity</a:t>
            </a:r>
          </a:p>
          <a:p>
            <a:pPr lvl="1">
              <a:defRPr sz="1200"/>
            </a:pPr>
            <a:r>
              <a:t>Advantage: Smoother learning, intermediate credit for good plans</a:t>
            </a:r>
          </a:p>
          <a:p>
            <a:pPr lvl="1">
              <a:defRPr sz="1200"/>
            </a:pPr>
            <a:r>
              <a:t>Recommendation: Start here—lowest implementation cost, proven effective</a:t>
            </a:r>
          </a:p>
          <a:p>
            <a:pPr/>
          </a:p>
          <a:p>
            <a:pPr>
              <a:defRPr b="1" sz="1300">
                <a:solidFill>
                  <a:srgbClr val="323232"/>
                </a:solidFill>
              </a:defRPr>
            </a:pPr>
            <a:r>
              <a:t>References: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[1] ReST-MCTS*: LLM Self-Training via Process Reward Guided Tree Search</a:t>
            </a:r>
          </a:p>
          <a:p>
            <a:pPr lvl="1">
              <a:defRPr sz="1000">
                <a:solidFill>
                  <a:srgbClr val="505050"/>
                </a:solidFill>
              </a:defRPr>
            </a:pPr>
            <a:r>
              <a:t>     Zhang et al., NeurIPS 2024 | arxiv.org/abs/2406.03816</a:t>
            </a:r>
          </a:p>
          <a:p/>
          <a:p>
            <a:pPr>
              <a:defRPr sz="1000">
                <a:solidFill>
                  <a:srgbClr val="505050"/>
                </a:solidFill>
              </a:defRPr>
            </a:pPr>
            <a:r>
              <a:t>[2] HiPRAG: Hierarchical Process Rewards for Efficient Agentic RAG</a:t>
            </a:r>
          </a:p>
          <a:p>
            <a:pPr lvl="1">
              <a:defRPr sz="1000">
                <a:solidFill>
                  <a:srgbClr val="505050"/>
                </a:solidFill>
              </a:defRPr>
            </a:pPr>
            <a:r>
              <a:t>     2024 | arxiv.org/abs/2510.07794</a:t>
            </a:r>
          </a:p>
          <a:p/>
          <a:p>
            <a:pPr>
              <a:defRPr sz="1000">
                <a:solidFill>
                  <a:srgbClr val="505050"/>
                </a:solidFill>
              </a:defRPr>
            </a:pPr>
            <a:r>
              <a:t>[3] Linking Process to Outcome: Conditional Reward Modeling for LLM Reasoning</a:t>
            </a:r>
          </a:p>
          <a:p>
            <a:pPr lvl="1">
              <a:defRPr sz="1000">
                <a:solidFill>
                  <a:srgbClr val="505050"/>
                </a:solidFill>
              </a:defRPr>
            </a:pPr>
            <a:r>
              <a:t>     2024 | arxiv.org/abs/2509.26578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LLM-as-Judge: Expert Reward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Concept: Use Claude to score plan quality as an expert judge</a:t>
            </a:r>
          </a:p>
          <a:p>
            <a:pPr>
              <a:defRPr b="1" sz="1600"/>
            </a:pPr>
            <a:r>
              <a:t>How It Works</a:t>
            </a:r>
          </a:p>
          <a:p>
            <a:pPr lvl="1">
              <a:defRPr sz="1200"/>
            </a:pPr>
            <a:r>
              <a:t>Router generates a plan (JSON with steps)</a:t>
            </a:r>
          </a:p>
          <a:p>
            <a:pPr lvl="1">
              <a:defRPr sz="1200"/>
            </a:pPr>
            <a:r>
              <a:t>Send plan + question to Claude with evaluation prompt</a:t>
            </a:r>
          </a:p>
          <a:p>
            <a:pPr lvl="1">
              <a:defRPr sz="1200"/>
            </a:pPr>
            <a:r>
              <a:t>Claude scores plan 0-10 on clarity, completeness, feasibility</a:t>
            </a:r>
          </a:p>
          <a:p>
            <a:pPr lvl="1">
              <a:defRPr sz="1200"/>
            </a:pPr>
            <a:r>
              <a:t>Convert score to 0.0-1.0 and blend: 0.5×judge_score + 0.5×outcome</a:t>
            </a:r>
          </a:p>
          <a:p>
            <a:pPr>
              <a:defRPr b="1" sz="1600"/>
            </a:pPr>
            <a:r>
              <a:t>Advantages</a:t>
            </a:r>
          </a:p>
          <a:p>
            <a:pPr lvl="1">
              <a:defRPr sz="1200"/>
            </a:pPr>
            <a:r>
              <a:t>Expert-quality evaluation (Claude understands math)</a:t>
            </a:r>
          </a:p>
          <a:p>
            <a:pPr lvl="1">
              <a:defRPr sz="1200"/>
            </a:pPr>
            <a:r>
              <a:t>Catches subtle plan issues heuristics miss</a:t>
            </a:r>
          </a:p>
          <a:p>
            <a:pPr lvl="1">
              <a:defRPr sz="1200"/>
            </a:pPr>
            <a:r>
              <a:t>Language/domain agnostic</a:t>
            </a:r>
          </a:p>
          <a:p>
            <a:pPr lvl="1">
              <a:defRPr sz="1200"/>
            </a:pPr>
            <a:r>
              <a:t>No training required</a:t>
            </a:r>
          </a:p>
          <a:p>
            <a:pPr>
              <a:defRPr b="1" sz="1600"/>
            </a:pPr>
            <a:r>
              <a:t>Limitations</a:t>
            </a:r>
          </a:p>
          <a:p>
            <a:pPr lvl="1">
              <a:defRPr sz="1200"/>
            </a:pPr>
            <a:r>
              <a:t>Slower: API call per plan (~0.5-2s)</a:t>
            </a:r>
          </a:p>
          <a:p>
            <a:pPr lvl="1">
              <a:defRPr sz="1200"/>
            </a:pPr>
            <a:r>
              <a:t>Costs: ~$0.01-0.05 per evaluation</a:t>
            </a:r>
          </a:p>
          <a:p>
            <a:pPr lvl="1">
              <a:defRPr sz="1200"/>
            </a:pPr>
            <a:r>
              <a:t>Non-deterministic: slight variation between calls</a:t>
            </a:r>
          </a:p>
          <a:p>
            <a:pPr lvl="1">
              <a:defRPr sz="1200"/>
            </a:pPr>
            <a:r>
              <a:t>Best for validation, not high-volume training</a:t>
            </a:r>
          </a:p>
          <a:p>
            <a:pPr>
              <a:defRPr b="1" sz="1600"/>
            </a:pPr>
            <a:r>
              <a:t>Recommendation</a:t>
            </a:r>
          </a:p>
          <a:p>
            <a:pPr lvl="1">
              <a:defRPr sz="1200"/>
            </a:pPr>
            <a:r>
              <a:t>Train with HeuristicRouterReward (fast, free)</a:t>
            </a:r>
          </a:p>
          <a:p>
            <a:pPr lvl="1">
              <a:defRPr sz="1200"/>
            </a:pPr>
            <a:r>
              <a:t>Validate with LLMJudgeRouterReward (expert quality)</a:t>
            </a:r>
          </a:p>
          <a:p>
            <a:pPr lvl="1">
              <a:defRPr sz="1200"/>
            </a:pPr>
            <a:r>
              <a:t>Compare scores to detect reward inflation/deflation</a:t>
            </a:r>
          </a:p>
          <a:p>
            <a:pPr lvl="1">
              <a:defRPr sz="1200"/>
            </a:pPr>
            <a:r>
              <a:t>Use modular RouterReward class to swap evaluators</a:t>
            </a:r>
          </a:p>
          <a:p>
            <a:pPr/>
          </a:p>
          <a:p>
            <a:pPr>
              <a:defRPr sz="1000" i="1">
                <a:solidFill>
                  <a:srgbClr val="646464"/>
                </a:solidFill>
              </a:defRPr>
            </a:pPr>
            <a:r>
              <a:t>Usage: from src.rewards.router import LLMJudgeRouterReward</a:t>
            </a:r>
          </a:p>
          <a:p>
            <a:pPr>
              <a:defRPr sz="1000" i="1">
                <a:solidFill>
                  <a:srgbClr val="646464"/>
                </a:solidFill>
              </a:defRPr>
            </a:pPr>
            <a:r>
              <a:t>evaluator = LLMJudgeRouterReward(model='claude-opus-4-1')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Solver Rewards: Incentivizing Tool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Three-Part Incentive Chain for Code Execution</a:t>
            </a:r>
          </a:p>
          <a:p>
            <a:pPr>
              <a:defRPr b="1" sz="1600"/>
            </a:pPr>
            <a:r>
              <a:t>1. Prompt (Instruction)</a:t>
            </a:r>
          </a:p>
          <a:p>
            <a:pPr lvl="1">
              <a:defRPr sz="1300"/>
            </a:pPr>
            <a:r>
              <a:t>Solver prompt explicitly states:</a:t>
            </a:r>
          </a:p>
          <a:p>
            <a:pPr lvl="1">
              <a:defRPr sz="1300"/>
            </a:pPr>
            <a:r>
              <a:t>"Write Python code wrapped in &lt;code&gt;...&lt;/code&gt;"</a:t>
            </a:r>
          </a:p>
          <a:p>
            <a:pPr lvl="1">
              <a:defRPr sz="1300"/>
            </a:pPr>
            <a:r>
              <a:t>Provides inductive bias toward tool use</a:t>
            </a:r>
          </a:p>
          <a:p>
            <a:pPr>
              <a:defRPr b="1" sz="1600"/>
            </a:pPr>
            <a:r>
              <a:t>2. Extraction (Architecture)</a:t>
            </a:r>
          </a:p>
          <a:p>
            <a:pPr lvl="1">
              <a:defRPr sz="1300"/>
            </a:pPr>
            <a:r>
              <a:t>Only code in &lt;code&gt;...&lt;/code&gt; blocks is extracted</a:t>
            </a:r>
          </a:p>
          <a:p>
            <a:pPr lvl="1">
              <a:defRPr sz="1300"/>
            </a:pPr>
            <a:r>
              <a:t>No code found → tool_result.is_error = True</a:t>
            </a:r>
          </a:p>
          <a:p>
            <a:pPr lvl="1">
              <a:defRPr sz="1300"/>
            </a:pPr>
            <a:r>
              <a:t>This architectural choice enforces code writing</a:t>
            </a:r>
          </a:p>
          <a:p>
            <a:pPr>
              <a:defRPr b="1" sz="1600"/>
            </a:pPr>
            <a:r>
              <a:t>3. Reward (Loss Signal)</a:t>
            </a:r>
          </a:p>
          <a:p>
            <a:pPr lvl="1">
              <a:defRPr sz="1300"/>
            </a:pPr>
            <a:r>
              <a:t>No code written → is_error=True → reward = 0.0</a:t>
            </a:r>
          </a:p>
          <a:p>
            <a:pPr lvl="1">
              <a:defRPr sz="1300"/>
            </a:pPr>
            <a:r>
              <a:t>Code executes cleanly → 0.3 + 0.2 + 0.5 = up to 1.0</a:t>
            </a:r>
          </a:p>
          <a:p>
            <a:pPr lvl="1">
              <a:defRPr sz="1300"/>
            </a:pPr>
            <a:r>
              <a:t>Stark difference forces strong learning signal</a:t>
            </a:r>
          </a:p>
          <a:p>
            <a:pPr/>
          </a:p>
          <a:p>
            <a:pPr>
              <a:defRPr b="1" sz="1600"/>
            </a:pPr>
            <a:r>
              <a:t>Solver Step Reward Breakdown (0.0-1.0)</a:t>
            </a:r>
          </a:p>
          <a:p>
            <a:pPr lvl="1">
              <a:defRPr sz="1300"/>
            </a:pPr>
            <a:r>
              <a:t>0.3 — Tool executed without Python error</a:t>
            </a:r>
          </a:p>
          <a:p>
            <a:pPr lvl="1">
              <a:defRPr sz="1300"/>
            </a:pPr>
            <a:r>
              <a:t>0.2 — Output is sensible (non-empty, &lt; 256 chars)</a:t>
            </a:r>
          </a:p>
          <a:p>
            <a:pPr lvl="1">
              <a:defRPr sz="1300"/>
            </a:pPr>
            <a:r>
              <a:t>0.5 — Final answer is correct (outcome signal)</a:t>
            </a:r>
          </a:p>
          <a:p>
            <a:pPr/>
          </a:p>
          <a:p>
            <a:pPr>
              <a:defRPr b="1" sz="1600"/>
            </a:pPr>
            <a:r>
              <a:t>Why This Design?</a:t>
            </a:r>
          </a:p>
          <a:p>
            <a:pPr lvl="1">
              <a:defRPr sz="1300"/>
            </a:pPr>
            <a:r>
              <a:t>Forces verifiable computation: code either runs or fails</a:t>
            </a:r>
          </a:p>
          <a:p>
            <a:pPr lvl="1">
              <a:defRPr sz="1300"/>
            </a:pPr>
            <a:r>
              <a:t>Avoids ambiguity: prose answers can be interpreted many ways</a:t>
            </a:r>
          </a:p>
          <a:p>
            <a:pPr lvl="1">
              <a:defRPr sz="1300"/>
            </a:pPr>
            <a:r>
              <a:t>Enables debugging: can inspect tool outputs and errors</a:t>
            </a:r>
          </a:p>
          <a:p>
            <a:pPr lvl="1">
              <a:defRPr sz="1300"/>
            </a:pPr>
            <a:r>
              <a:t>Prevents hallucination: LLM can't claim arbitrary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