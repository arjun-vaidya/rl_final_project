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60" r:id="rId11"/>
    <p:sldId id="261" r:id="rId12"/>
    <p:sldId id="262" r:id="rId10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6.xml"/><Relationship Id="rId10" Type="http://schemas.openxmlformats.org/officeDocument/2006/relationships/slide" Target="slides/slide5.xml"/><Relationship Id="rId11" Type="http://schemas.openxmlformats.org/officeDocument/2006/relationships/slide" Target="slides/slide3.xml"/><Relationship Id="rId12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Dataset: GSM8K (Grade School Math)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Overview:</a:t>
            </a:r>
          </a:p>
          <a:p>
            <a:r>
              <a:t>- 8.5K high-quality, linguistically diverse grade school math word problems.</a:t>
            </a:r>
          </a:p>
          <a:p>
            <a:r>
              <a:t>- Requires multi-step mathematical reasoning to solve.</a:t>
            </a:r>
          </a:p>
          <a:p>
            <a:br/>
            <a:pPr>
              <a:defRPr b="1"/>
            </a:pPr>
            <a:r>
              <a:t>Data Structure:</a:t>
            </a:r>
          </a:p>
          <a:p>
            <a:r>
              <a:t>- Question: The math word problem.</a:t>
            </a:r>
            <a:br/>
            <a:r>
              <a:t>- Answer / Reasoning: Step-by-step logic leading to the final answer.</a:t>
            </a:r>
            <a:br/>
            <a:r>
              <a:t>- Format: The final numeric answer is often denoted at the end (e.g., #### 5).</a:t>
            </a:r>
          </a:p>
          <a:p>
            <a:br/>
            <a:pPr>
              <a:defRPr b="1"/>
            </a:pPr>
            <a:r>
              <a:t>Our Usage:</a:t>
            </a:r>
          </a:p>
          <a:p>
            <a:r>
              <a:t>- Utilized the 'train' split to fine-tune our Language Model.</a:t>
            </a:r>
            <a:br/>
            <a:r>
              <a:t>- Extracted exact numeric answers to use as an automated grading mechanism.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Approach: Reward-Weighted Flat Baseline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/>
            </a:pPr>
            <a:r>
              <a:t>What We Tried:</a:t>
            </a:r>
          </a:p>
          <a:p>
            <a:r>
              <a:t>- Developed a 'Flat Baseline' (standard causal LM, no routing).</a:t>
            </a:r>
            <a:br/>
            <a:r>
              <a:t>- Implemented a custom RewardWeightedTrainer for Supervised Fine-Tuning.</a:t>
            </a:r>
          </a:p>
          <a:p>
            <a:br/>
            <a:pPr>
              <a:defRPr b="1"/>
            </a:pPr>
            <a:r>
              <a:t>How It Works:</a:t>
            </a:r>
          </a:p>
          <a:p>
            <a:r>
              <a:t>1. Formatting: Concatenated inputs into 'Question: [Q] \nReasoning: [A]'</a:t>
            </a:r>
            <a:br/>
            <a:r>
              <a:t>2. Reward Filter: Binary score (1.0 if answer contains numeric format, else 0.0)</a:t>
            </a:r>
            <a:br/>
            <a:r>
              <a:t>3. Loss Weighting: Modified Cross-Entropy (Loss = Sequence_Loss x Reward)</a:t>
            </a:r>
            <a:br/>
            <a:r>
              <a:t>4. Efficiency: Applied LoRA targeting attention matrices (q_proj, v_proj).</a:t>
            </a:r>
          </a:p>
          <a:p>
            <a:br/>
            <a:pPr>
              <a:defRPr b="1"/>
            </a:pPr>
            <a:r>
              <a:t>Key Findings &amp; Adjustments:</a:t>
            </a:r>
          </a:p>
          <a:p>
            <a:r>
              <a:t>- Identified and fixed an inversion bug in the loss calculation to ensure the LLM correctly reinforces successful examples.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00000"/>
                </a:solidFill>
              </a:defRPr>
            </a:pPr>
            <a:r>
              <a:t>Why Direct RL Over SFT?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/>
            </a:pPr>
            <a:r>
              <a:t>Computational Efficiency</a:t>
            </a:r>
          </a:p>
          <a:p>
            <a:pPr lvl="1">
              <a:defRPr sz="2600"/>
            </a:pPr>
            <a:r>
              <a:t>Skip intermediate SFT stage → direct RL optimization</a:t>
            </a:r>
          </a:p>
          <a:p>
            <a:pPr>
              <a:defRPr sz="2600"/>
            </a:pPr>
          </a:p>
          <a:p>
            <a:pPr>
              <a:defRPr sz="3200"/>
            </a:pPr>
            <a:r>
              <a:t>Alignment Benefits</a:t>
            </a:r>
          </a:p>
          <a:p>
            <a:pPr lvl="1">
              <a:defRPr sz="2600"/>
            </a:pPr>
            <a:r>
              <a:t>Avoid biases from human-curated SFT data</a:t>
            </a:r>
          </a:p>
          <a:p>
            <a:pPr lvl="1">
              <a:defRPr sz="2600"/>
            </a:pPr>
            <a:r>
              <a:t>Learn directly from reward signal</a:t>
            </a:r>
          </a:p>
          <a:p>
            <a:pPr>
              <a:defRPr sz="2600"/>
            </a:pPr>
          </a:p>
          <a:p>
            <a:pPr>
              <a:defRPr sz="1800" i="1">
                <a:solidFill>
                  <a:srgbClr val="00008B"/>
                </a:solidFill>
              </a:defRPr>
            </a:pPr>
            <a:r>
              <a:t>Reference: https://yugeten.github.io/posts/2025/01/ppogrpo/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00000"/>
                </a:solidFill>
              </a:defRPr>
            </a:pPr>
            <a:r>
              <a:t>GRPO: Eliminating the Critic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/>
            </a:pPr>
            <a:r>
              <a:t>Traditional RL (PPO): Requires Separate Critic</a:t>
            </a:r>
          </a:p>
          <a:p>
            <a:pPr lvl="1">
              <a:defRPr sz="2200"/>
            </a:pPr>
            <a:r>
              <a:t>Critic estimates per-step value function → computational overhead</a:t>
            </a:r>
          </a:p>
          <a:p>
            <a:pPr>
              <a:defRPr sz="2200"/>
            </a:pPr>
          </a:p>
          <a:p>
            <a:pPr>
              <a:defRPr sz="2800"/>
            </a:pPr>
            <a:r>
              <a:t>GRPO Innovation: Group-Relative Policy Optimization</a:t>
            </a:r>
          </a:p>
          <a:p>
            <a:pPr lvl="1">
              <a:defRPr sz="2200"/>
            </a:pPr>
            <a:r>
              <a:t>Advantage = (R(rᵢ) - mean(R)) / std(R)</a:t>
            </a:r>
          </a:p>
          <a:p>
            <a:pPr lvl="1">
              <a:defRPr sz="2200"/>
            </a:pPr>
            <a:r>
              <a:t>Normalized within response group → No critic needed!</a:t>
            </a:r>
          </a:p>
          <a:p>
            <a:pPr>
              <a:defRPr sz="2200"/>
            </a:pPr>
          </a:p>
          <a:p>
            <a:pPr>
              <a:defRPr sz="2800"/>
            </a:pPr>
            <a:r>
              <a:t>Key Benefits</a:t>
            </a:r>
          </a:p>
          <a:p>
            <a:pPr lvl="1">
              <a:defRPr sz="2200"/>
            </a:pPr>
            <a:r>
              <a:t>Simpler architecture, no value network overhead</a:t>
            </a:r>
          </a:p>
          <a:p>
            <a:pPr lvl="1">
              <a:defRPr sz="2200"/>
            </a:pPr>
            <a:r>
              <a:t>Faster training with same or better results</a:t>
            </a:r>
          </a:p>
          <a:p>
            <a:pPr lvl="1">
              <a:defRPr sz="2200"/>
            </a:pPr>
            <a:r>
              <a:t>Mathematical elegance &amp; theoretical soundness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5400" b="1"/>
            </a:pPr>
            <a:r>
              <a:t>Why Direct RL Over SFT?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2800"/>
            </a:pPr>
            <a:r>
              <a:t>Computational Efficiency</a:t>
            </a:r>
          </a:p>
          <a:p>
            <a:pPr lvl="1">
              <a:defRPr b="0" sz="2800"/>
            </a:pPr>
            <a:r>
              <a:t>Skip intermediate SFT stage → direct RL optimization</a:t>
            </a:r>
          </a:p>
          <a:p>
            <a:pPr>
              <a:defRPr b="0" sz="2800"/>
            </a:pPr>
          </a:p>
          <a:p>
            <a:pPr>
              <a:defRPr b="1" sz="2800"/>
            </a:pPr>
            <a:r>
              <a:t>Alignment Benefits</a:t>
            </a:r>
          </a:p>
          <a:p>
            <a:pPr lvl="1">
              <a:defRPr b="0" sz="2800"/>
            </a:pPr>
            <a:r>
              <a:t>Avoid biases from human-curated SFT data</a:t>
            </a:r>
          </a:p>
          <a:p>
            <a:pPr lvl="1">
              <a:defRPr b="0" sz="2800"/>
            </a:pPr>
            <a:r>
              <a:t>Learn directly from reward signal</a:t>
            </a:r>
          </a:p>
          <a:p>
            <a:pPr>
              <a:defRPr b="0" sz="2800"/>
            </a:pPr>
          </a:p>
          <a:p>
            <a:pPr>
              <a:defRPr b="0" sz="2800"/>
            </a:pPr>
            <a:r>
              <a:t>Reference: yugeten.github.io/posts/2025/01/ppogrpo/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/>
            </a:pPr>
            <a:r>
              <a:t>GRPO: Eliminating the Critic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b="1" sz="2600"/>
            </a:pPr>
            <a:r>
              <a:t>Traditional RL (PPO)</a:t>
            </a:r>
          </a:p>
          <a:p>
            <a:pPr lvl="1">
              <a:defRPr b="0" sz="2600"/>
            </a:pPr>
            <a:r>
              <a:t>Requires separate critic network</a:t>
            </a:r>
          </a:p>
          <a:p>
            <a:pPr lvl="1">
              <a:defRPr b="0" sz="2600"/>
            </a:pPr>
            <a:r>
              <a:t>Per-step value estimation → computational overhead</a:t>
            </a:r>
          </a:p>
          <a:p>
            <a:pPr>
              <a:defRPr b="0" sz="2600"/>
            </a:pPr>
          </a:p>
          <a:p>
            <a:pPr>
              <a:defRPr b="1" sz="2600"/>
            </a:pPr>
            <a:r>
              <a:t>GRPO: Group-Relative Policy Optimization</a:t>
            </a:r>
          </a:p>
          <a:p>
            <a:pPr lvl="1">
              <a:defRPr b="0" sz="2600"/>
            </a:pPr>
            <a:r>
              <a:t>Advantage = (R(rᵢ) - mean(R)) / std(R)</a:t>
            </a:r>
          </a:p>
          <a:p>
            <a:pPr lvl="1">
              <a:defRPr b="0" sz="2600"/>
            </a:pPr>
            <a:r>
              <a:t>No critic needed — normalize within group</a:t>
            </a:r>
          </a:p>
          <a:p>
            <a:pPr>
              <a:defRPr b="0" sz="2600"/>
            </a:pPr>
          </a:p>
          <a:p>
            <a:pPr>
              <a:defRPr b="1" sz="2600"/>
            </a:pPr>
            <a:r>
              <a:t>Key Benefits</a:t>
            </a:r>
          </a:p>
          <a:p>
            <a:pPr lvl="1">
              <a:defRPr b="0" sz="2600"/>
            </a:pPr>
            <a:r>
              <a:t>Simpler architecture</a:t>
            </a:r>
          </a:p>
          <a:p>
            <a:pPr lvl="1">
              <a:defRPr b="0" sz="2600"/>
            </a:pPr>
            <a:r>
              <a:t>Faster training</a:t>
            </a:r>
          </a:p>
          <a:p>
            <a:pPr lvl="1">
              <a:defRPr b="0" sz="2600"/>
            </a:pPr>
            <a:r>
              <a:t>Mathematical elegance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